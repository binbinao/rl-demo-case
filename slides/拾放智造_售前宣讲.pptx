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各位好。今天向大家汇报的是一套面向制造现场机械臂智能化改造的方案——「拾放智造」。它要回答一个核心问题：在现有六轴/协作机器人的基础上，能不能用很小的算力和有限的数据，就让机械臂学会「抓取-放置」这类任务，从而降低对专业示教工程师的依赖。下面我们用一个已跑通的实际案例来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的是「痛点」。制造现场的机械臂已经很多了，但智能化改造并没有大规模铺开，卡在哪？四个字概括就是「落地难」：第一，传统示教要专业工程师逐点编程，门槛高；第二，一旦换品种就要重新示教，成本反复；第三，小批量多品种本来就是制造业常态，靠人工示教不划算；第四，传统视觉方案对环境变化很敏感，要反复调参。这四点，就是我们方案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做核心对比。左边是传统示教：工程师拿着示教器，一个点一个点地教机器人，换品种就重来，靠个人经验。右边是我们的路径：模仿学习微调——你只需要给机器人演示几次正确动作，模型从示范里学会抓放；换品种时补采少量数据重新微调就行。注意，这里的关键词是「由示范学习」，而不是「重新编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一句话价值主张：小算力加小数据，就能让机械臂学会抓放。三个关键词——小算力：单张 T4 卡就够，不用 GPU 集群；小数据：几十集演示数据，不需要海量人工标注；快交付：从数据到模型到验证，天级就能闭环。这三点分别对应客户的算力预算、数据积累、和上线节奏，是我们方案最核心的卖点。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技术科普，帮客户分清三种「教机器人」的方式。传统示教是逐点编程，门槛高、换品种重来。强化学习是让机器人试错、给奖励，但需要大量交互、奖励设计复杂、算力门槛高。模仿学习是折中且更轻的路线：给机器人演示正确动作，它从示范里学习，数据需求小、算力低。我们选择模仿学习，正是为了匹配制造现场「小批量、快迭代、算力有限」的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这页讲我们具体做了什么，是一条完整的流水线。起点是一个通用的大模型 SmolVLA，4.5 亿参数，具备视觉和语言理解能力；第二步，我们只用 50 集抓放演示数据——注意是「演示」不是海量标注，大约两万帧、双相机、6 自由度；第三步，在单张 T4 16G 显卡上微调约 9 小时；最后得到一个可加载推理的专用抓放模型。整条链路没有用到 GPU 集群，成本可控。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这一页是硬数据，最有说服力。我们做一个「离线动作预测对比」：把模型预测的动作和数据集里的真值动作逐关节比对，算均方误差，误差越小越准。结果：微调后的模型整体误差下降了 89.3%，从 264.91 降到 28.39；6 个关节全部提升，最好的一档提升了 97.4%。需要说明这是离线验证、不是真机跑，但它已经能证明：模型确实学到了这个抓放任务的动作规律。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这页算成本账，口径是「算力 + 数据 + 人力 + 工期」。对比传统示教：一个复杂抓放工位，传统示教大约要 5 到 15 人天；我们这套方案推算下来约 4 到 6 人天，而且算力只要一张 T4 卡。更关键的是「换品种」——传统要重新示教、每次 3 到 10 人天；我们只需补采少量数据再微调，天级就能完成。表里的数字是演示规模推算的合理假设，落地时请替换成贵司真实工位和人力口径。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分四步，形成一个可持续迭代的闭环。第一步采数据：在客户目标工位录制抓放演示，几十集即可；第二步微调：用通用模型加载现场数据，单卡微调；第三步部署：把模型加载到推理端，接上机械臂控制；第四步迭代：根据上线反馈补数据再微调，越用越准。这套流程可复制到不同工位、不同品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这页我们主动讲边界，这是技术方案该有的诚实。第一，目前是离线验证，证明的是「预测动作接近真值」，还没接真机跑闭环；第二，演示场景是固定抓放，多品种复杂工况要扩数据；第三，50 集是演示规模，产线要用现场真实数据；第四，模型泛化依赖数据覆盖；第五，上线前必须真机二次验证和安全评估。把这些讲清楚，既是对客户负责，也避免过度承诺。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最后一页是行动号召。建议从小型 POC 开始：选一个抓放任务清晰的典型工位，采集现场演示数据，做微调和离线验证，最后真机部署联合验收，形成可复制的方案。我们诚邀贵司提供真实工位，一起跑通一次端到端验证，用真实数据说话。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微软雅黑"/>
                <a:ea typeface="微软雅黑"/>
              </a:rPr>
              <a:t>拾放智造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 i="0">
                <a:solidFill>
                  <a:srgbClr val="D6E4F0"/>
                </a:solidFill>
                <a:latin typeface="微软雅黑"/>
                <a:ea typeface="微软雅黑"/>
              </a:rPr>
              <a:t>小算力 × 小数据，让机械臂学会「抓放」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FC0DF"/>
                </a:solidFill>
                <a:latin typeface="微软雅黑"/>
                <a:ea typeface="微软雅黑"/>
              </a:rPr>
              <a:t>PickTeach · 机械臂智能化改造方案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FC0DF"/>
                </a:solidFill>
                <a:latin typeface="微软雅黑"/>
                <a:ea typeface="微软雅黑"/>
              </a:rPr>
              <a:t>对内技术复现 · 对外售前宣讲   |   SmolVLA × SO-100 案例实证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制造现场的「最后一公里」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为什么机械臂智能化改造总是卡在落地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40233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64008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编程门槛高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331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传统示教需专业机器人工程师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逐点示教、反复调试，门槛高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371600"/>
            <a:ext cx="2697480" cy="40233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371600"/>
            <a:ext cx="2697480" cy="64008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48132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换品种重示教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286000"/>
            <a:ext cx="2331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换产线 / 换物料就要重新示教，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周期长、成本反复投入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371600"/>
            <a:ext cx="2697480" cy="40233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371600"/>
            <a:ext cx="2697480" cy="64008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48132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依赖现场工程师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286000"/>
            <a:ext cx="2331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小批量多品种场景下，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投入产出比不划算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371600"/>
            <a:ext cx="2697480" cy="40233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371600"/>
            <a:ext cx="2697480" cy="64008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48132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传统视觉泛化差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286000"/>
            <a:ext cx="2331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光照、物料、位姿变化，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需频繁人工调参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传统示教 vs 拾放智造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一条「由演示学习」而非「逐点编程」的路径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949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394960" cy="6400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传统示教编程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专业工程师逐点示教，周期长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换品种 = 从头再来一遍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严重依赖个人经验，难以复制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小批量多品种投入产出比低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4480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39496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拾放智造（模仿学习微调）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演示几次给机器人看，模型自己学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换品种只需补采少量数据，再微调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流程可复制，不依赖个人经验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•  单卡算力即可，适合多品种快速迭代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核心价值主张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4C81"/>
                </a:solidFill>
                <a:latin typeface="微软雅黑"/>
                <a:ea typeface="微软雅黑"/>
              </a:rPr>
              <a:t>小算力 + 小数据 → 让机械臂学会抓放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887" y="2926080"/>
            <a:ext cx="3383280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887" y="2926080"/>
            <a:ext cx="3383280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3246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0F4C81"/>
                </a:solidFill>
                <a:latin typeface="微软雅黑"/>
                <a:ea typeface="微软雅黑"/>
              </a:rPr>
              <a:t>小算力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38862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</a:rPr>
              <a:t>单张 Tesla T4（16GB）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</a:rPr>
              <a:t>即可完成训练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207" y="2926080"/>
            <a:ext cx="3383280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207" y="2926080"/>
            <a:ext cx="3383280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8527" y="3246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0F4C81"/>
                </a:solidFill>
                <a:latin typeface="微软雅黑"/>
                <a:ea typeface="微软雅黑"/>
              </a:rPr>
              <a:t>小数据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527" y="38862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</a:rPr>
              <a:t>几十集演示数据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</a:rPr>
              <a:t>（非海量标注）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527" y="2926080"/>
            <a:ext cx="3383280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527" y="2926080"/>
            <a:ext cx="3383280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1847" y="3246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0F4C81"/>
                </a:solidFill>
                <a:latin typeface="微软雅黑"/>
                <a:ea typeface="微软雅黑"/>
              </a:rPr>
              <a:t>快交付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38862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</a:rPr>
              <a:t>天级完成数据→模型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  <a:ea typeface="微软雅黑"/>
              </a:rPr>
              <a:t>→验证闭环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三种「教机器人」的方式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为什么我们选择模仿学习这条更轻的路线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887" y="1371600"/>
            <a:ext cx="3383280" cy="4023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887" y="1371600"/>
            <a:ext cx="3383280" cy="105156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487" y="14813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传统示教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逐点编程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2651760"/>
            <a:ext cx="2743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人工逐点示教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换品种重来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依赖专家经验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4207" y="1371600"/>
            <a:ext cx="3383280" cy="40233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4207" y="1371600"/>
            <a:ext cx="3383280" cy="105156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807" y="14813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模仿学习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从示范中学习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247" y="2651760"/>
            <a:ext cx="2743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演示→模型学会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少量数据即可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算力要求低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4892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</a:rPr>
              <a:t>✓ 本方案采用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7527" y="1371600"/>
            <a:ext cx="3383280" cy="4023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527" y="1371600"/>
            <a:ext cx="3383280" cy="105156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6127" y="14813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强化学习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6127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试错+奖励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7567" y="2651760"/>
            <a:ext cx="2743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需大量交互试错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奖励设计复杂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•  算力门槛高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实证案例：我们做了什么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通用模型 + 少量演示数据 → 单卡微调出抓放能力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408279" y="1554480"/>
            <a:ext cx="2651760" cy="32918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8279" y="1554480"/>
            <a:ext cx="2651760" cy="7315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159" y="1682496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通用 VLA 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" y="2560320"/>
            <a:ext cx="2194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SmolVLA（4.5 亿参数）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视觉-语言-动作模型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4319" y="28346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6071" y="1554480"/>
            <a:ext cx="2651760" cy="32918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6071" y="1554480"/>
            <a:ext cx="2651760" cy="7315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951" y="1682496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少量演示数据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4671" y="2560320"/>
            <a:ext cx="2194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50 集抓放演示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约 2 万帧 · 双相机 · 6 自由度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2111" y="28346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1554480"/>
            <a:ext cx="2651760" cy="32918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554480"/>
            <a:ext cx="2651760" cy="7315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682496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单卡微调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2560320"/>
            <a:ext cx="2194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Tesla T4（16GB）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训练约 9 小时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9903" y="28346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31655" y="1554480"/>
            <a:ext cx="2651760" cy="32918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1655" y="1554480"/>
            <a:ext cx="2651760" cy="7315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4535" y="1682496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专用模型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0255" y="2560320"/>
            <a:ext cx="2194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可加载推理的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抓放动作模型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效果数据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离线动作预测对比：微调后误差大幅下降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57600" cy="23774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-89.3%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D6E4F0"/>
                </a:solidFill>
                <a:latin typeface="微软雅黑"/>
                <a:ea typeface="微软雅黑"/>
              </a:rPr>
              <a:t>动作预测误差下降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480560" y="1280160"/>
          <a:ext cx="71780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16916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关节</a:t>
                      </a:r>
                    </a:p>
                  </a:txBody>
                  <a:tcPr anchor="ctr">
                    <a:solidFill>
                      <a:srgbClr val="1F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base MSE</a:t>
                      </a:r>
                    </a:p>
                  </a:txBody>
                  <a:tcPr anchor="ctr">
                    <a:solidFill>
                      <a:srgbClr val="1F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微调后 MSE</a:t>
                      </a:r>
                    </a:p>
                  </a:txBody>
                  <a:tcPr anchor="ctr">
                    <a:solidFill>
                      <a:srgbClr val="1F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提升</a:t>
                      </a:r>
                    </a:p>
                  </a:txBody>
                  <a:tcPr anchor="ctr">
                    <a:solidFill>
                      <a:srgbClr val="1F5E9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shoulder_pan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604.11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15.82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+97.4%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shoulder_lift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409.03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75.52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+81.5%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elbow_flex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183.10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33.09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+81.9%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wrist_flex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23.49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+88.4%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wrist_roll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98.07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15.57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+84.1%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gripper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92.69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+92.6%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总体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264.91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28.39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+89.3%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977639"/>
            <a:ext cx="11155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说明：离线评估（留出集 ep45–49，共 1877 帧），指标为预测动作与真值动作的逐关节 MSE，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数值越低越准。微调后 6 个关节全部提升（+81.5% ~ +97.4%）。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成本账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算力 + 数据 + 人力 + 工期（口径可替换为贵司真实值）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63440"/>
                <a:gridCol w="46634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1F5E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传统示教编程</a:t>
                      </a:r>
                    </a:p>
                  </a:txBody>
                  <a:tcPr anchor="ctr">
                    <a:solidFill>
                      <a:srgbClr val="1F5E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拾放智造（本案例推算）</a:t>
                      </a:r>
                    </a:p>
                  </a:txBody>
                  <a:tcPr anchor="ctr">
                    <a:solidFill>
                      <a:srgbClr val="1F5E9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算力要求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无需训练（纯人工编程）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单张 T4，约 9 小时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数据投入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 集演示（约 1–2 人·天采集）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单工位总投入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5–15 人·天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4–6 人·天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换品种成本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重新示教 3–10 人·天 /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补采少量数据 + 再微调（天级）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4C81"/>
                          </a:solidFill>
                          <a:latin typeface="微软雅黑"/>
                          <a:ea typeface="微软雅黑"/>
                        </a:rPr>
                        <a:t>专家依赖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高（依赖示教经验）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中（数据采集即可上手）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16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注：本案例为演示规模，实际产线需按工位数量、品种复杂度、数据采集条件重新测算；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「拾放智造」列的 1–2 人·天为数据采集假设，训练为夜间无人值守（约 0.5 人·天值守），部署联调 2–3 人·天。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落地路径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从 demo 到客户产线：四步闭环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08279" y="1737360"/>
            <a:ext cx="2651760" cy="31089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8279" y="1737360"/>
            <a:ext cx="2651760" cy="265176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279" y="27889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159" y="4572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4C81"/>
                </a:solidFill>
                <a:latin typeface="微软雅黑"/>
                <a:ea typeface="微软雅黑"/>
              </a:rPr>
              <a:t>采数据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507492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在目标工位录制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抓放演示（几十集）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4319" y="27432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6071" y="1737360"/>
            <a:ext cx="2651760" cy="31089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6071" y="1737360"/>
            <a:ext cx="2651760" cy="2651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6071" y="27889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8951" y="4572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4C81"/>
                </a:solidFill>
                <a:latin typeface="微软雅黑"/>
                <a:ea typeface="微软雅黑"/>
              </a:rPr>
              <a:t>微调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4671" y="507492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通用模型 + 现场数据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单卡微调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2111" y="27432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1737360"/>
            <a:ext cx="2651760" cy="31089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1737360"/>
            <a:ext cx="2651760" cy="265176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863" y="27889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3" y="4572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4C81"/>
                </a:solidFill>
                <a:latin typeface="微软雅黑"/>
                <a:ea typeface="微软雅黑"/>
              </a:rPr>
              <a:t>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507492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加载模型到推理端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接机械臂控制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9903" y="27432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31655" y="1737360"/>
            <a:ext cx="2651760" cy="31089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31655" y="1737360"/>
            <a:ext cx="2651760" cy="2651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1655" y="27889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4535" y="4572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4C81"/>
                </a:solidFill>
                <a:latin typeface="微软雅黑"/>
                <a:ea typeface="微软雅黑"/>
              </a:rPr>
              <a:t>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255" y="507492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根据上线反馈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  <a:ea typeface="微软雅黑"/>
              </a:rPr>
              <a:t>补数据再微调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边界与诚实声明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把当前能力边界讲清楚，是对客户负责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•  当前成果为「离线动作预测验证」，尚未接真机 rollout 闭环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•  演示场景为固定抓放任务，多品种 / 复杂工况需扩展数据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•  本案例使用演示规模数据（50 集），产线落地需采集现场真实数据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•  模型泛化依赖数据覆盖度：新物料、新位姿需补充演示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•  上线前需在真实产线做二次验证与安全评估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</a:rPr>
              <a:t>用一个小型 POC 验证产线可行性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984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333333"/>
                </a:solidFill>
                <a:latin typeface="微软雅黑"/>
                <a:ea typeface="微软雅黑"/>
              </a:rPr>
              <a:t>选定 1 个典型工位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25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抓放任务清晰、数据易采集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500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333333"/>
                </a:solidFill>
                <a:latin typeface="微软雅黑"/>
                <a:ea typeface="微软雅黑"/>
              </a:rPr>
              <a:t>采集现场演示数据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约定集数与采集规范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0156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333333"/>
                </a:solidFill>
                <a:latin typeface="微软雅黑"/>
                <a:ea typeface="微软雅黑"/>
              </a:rPr>
              <a:t>微调 + 离线验证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29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输出 MSE 评估报告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531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333333"/>
                </a:solidFill>
                <a:latin typeface="微软雅黑"/>
                <a:ea typeface="微软雅黑"/>
              </a:rPr>
              <a:t>真机部署 + 联合验收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80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形成可复制的改造方案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852160"/>
            <a:ext cx="10972800" cy="18288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4C81"/>
                </a:solidFill>
                <a:latin typeface="微软雅黑"/>
                <a:ea typeface="微软雅黑"/>
              </a:rPr>
              <a:t>诚邀贵司提供 1 个真实抓放工位，共同完成一次端到端 POC 验证。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拾放智造 · 机械臂智能化改造方案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95959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